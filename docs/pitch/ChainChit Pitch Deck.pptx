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Arial Italics" charset="1" panose="020B06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chain-chit.vercel.app" TargetMode="External" Type="http://schemas.openxmlformats.org/officeDocument/2006/relationships/hyperlink"/><Relationship Id="rId5" Target="https://youtu.be/PG6lmdV_pBI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1097280"/>
            <a:ext cx="96012" cy="96012"/>
            <a:chOff x="0" y="0"/>
            <a:chExt cx="128016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1097280"/>
            <a:ext cx="96012" cy="96012"/>
            <a:chOff x="0" y="0"/>
            <a:chExt cx="128016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7600" y="1097280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90320" y="1645920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38960" y="1645920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0" y="1645920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948940"/>
            <a:ext cx="8229600" cy="480060"/>
            <a:chOff x="0" y="0"/>
            <a:chExt cx="109728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BLUE BELT SUBMISSION · LEVEL 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3497580"/>
            <a:ext cx="13716000" cy="1783080"/>
            <a:chOff x="0" y="0"/>
            <a:chExt cx="18288000" cy="2377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288000" cy="2415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ChainChit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5143500"/>
            <a:ext cx="14401800" cy="822960"/>
            <a:chOff x="0" y="0"/>
            <a:chExt cx="192024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92024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8B5CF6"/>
                  </a:solidFill>
                  <a:latin typeface="Arial"/>
                  <a:ea typeface="Arial"/>
                  <a:cs typeface="Arial"/>
                  <a:sym typeface="Arial"/>
                </a:rPr>
                <a:t>Rotating savings committees, rebuilt on Stellar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6231255"/>
            <a:ext cx="3701796" cy="595122"/>
            <a:chOff x="0" y="0"/>
            <a:chExt cx="4935728" cy="7934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5728" cy="793496"/>
            </a:xfrm>
            <a:custGeom>
              <a:avLst/>
              <a:gdLst/>
              <a:ahLst/>
              <a:cxnLst/>
              <a:rect r="r" b="b" t="t" l="l"/>
              <a:pathLst>
                <a:path h="793496" w="4935728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4784598" y="0"/>
                  </a:lnTo>
                  <a:cubicBezTo>
                    <a:pt x="4868037" y="0"/>
                    <a:pt x="4935728" y="67691"/>
                    <a:pt x="4935728" y="151130"/>
                  </a:cubicBezTo>
                  <a:lnTo>
                    <a:pt x="4935728" y="642366"/>
                  </a:lnTo>
                  <a:cubicBezTo>
                    <a:pt x="4935728" y="725805"/>
                    <a:pt x="4868037" y="793496"/>
                    <a:pt x="4784598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6240780"/>
            <a:ext cx="3682746" cy="576072"/>
            <a:chOff x="0" y="0"/>
            <a:chExt cx="4910328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10328" cy="768096"/>
            </a:xfrm>
            <a:custGeom>
              <a:avLst/>
              <a:gdLst/>
              <a:ahLst/>
              <a:cxnLst/>
              <a:rect r="r" b="b" t="t" l="l"/>
              <a:pathLst>
                <a:path h="768096" w="4910328">
                  <a:moveTo>
                    <a:pt x="0" y="0"/>
                  </a:moveTo>
                  <a:lnTo>
                    <a:pt x="4910328" y="0"/>
                  </a:lnTo>
                  <a:lnTo>
                    <a:pt x="491032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65" r="0" b="-7456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91032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Soroban smart contracts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81981" y="6231255"/>
            <a:ext cx="3441192" cy="595122"/>
            <a:chOff x="0" y="0"/>
            <a:chExt cx="4588256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88256" cy="793496"/>
            </a:xfrm>
            <a:custGeom>
              <a:avLst/>
              <a:gdLst/>
              <a:ahLst/>
              <a:cxnLst/>
              <a:rect r="r" b="b" t="t" l="l"/>
              <a:pathLst>
                <a:path h="793496" w="4588256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4437126" y="0"/>
                  </a:lnTo>
                  <a:cubicBezTo>
                    <a:pt x="4520565" y="0"/>
                    <a:pt x="4588256" y="67691"/>
                    <a:pt x="4588256" y="151130"/>
                  </a:cubicBezTo>
                  <a:lnTo>
                    <a:pt x="4588256" y="642366"/>
                  </a:lnTo>
                  <a:cubicBezTo>
                    <a:pt x="4588256" y="725805"/>
                    <a:pt x="4520565" y="793496"/>
                    <a:pt x="4437126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191506" y="6240780"/>
            <a:ext cx="3422142" cy="576072"/>
            <a:chOff x="0" y="0"/>
            <a:chExt cx="4562856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62856" cy="768096"/>
            </a:xfrm>
            <a:custGeom>
              <a:avLst/>
              <a:gdLst/>
              <a:ahLst/>
              <a:cxnLst/>
              <a:rect r="r" b="b" t="t" l="l"/>
              <a:pathLst>
                <a:path h="768096" w="4562856">
                  <a:moveTo>
                    <a:pt x="0" y="0"/>
                  </a:moveTo>
                  <a:lnTo>
                    <a:pt x="4562856" y="0"/>
                  </a:lnTo>
                  <a:lnTo>
                    <a:pt x="456285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750" r="0" b="-657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562856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Commit-reveal bidding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78443" y="6231255"/>
            <a:ext cx="3180588" cy="595122"/>
            <a:chOff x="0" y="0"/>
            <a:chExt cx="4240784" cy="7934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40784" cy="793496"/>
            </a:xfrm>
            <a:custGeom>
              <a:avLst/>
              <a:gdLst/>
              <a:ahLst/>
              <a:cxnLst/>
              <a:rect r="r" b="b" t="t" l="l"/>
              <a:pathLst>
                <a:path h="793496" w="4240784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4089654" y="0"/>
                  </a:lnTo>
                  <a:cubicBezTo>
                    <a:pt x="4173093" y="0"/>
                    <a:pt x="4240784" y="67691"/>
                    <a:pt x="4240784" y="151130"/>
                  </a:cubicBezTo>
                  <a:lnTo>
                    <a:pt x="4240784" y="642366"/>
                  </a:lnTo>
                  <a:cubicBezTo>
                    <a:pt x="4240784" y="725805"/>
                    <a:pt x="4173093" y="793496"/>
                    <a:pt x="4089654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887968" y="6240780"/>
            <a:ext cx="3161538" cy="576072"/>
            <a:chOff x="0" y="0"/>
            <a:chExt cx="4215384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15384" cy="768096"/>
            </a:xfrm>
            <a:custGeom>
              <a:avLst/>
              <a:gdLst/>
              <a:ahLst/>
              <a:cxnLst/>
              <a:rect r="r" b="b" t="t" l="l"/>
              <a:pathLst>
                <a:path h="768096" w="4215384">
                  <a:moveTo>
                    <a:pt x="0" y="0"/>
                  </a:moveTo>
                  <a:lnTo>
                    <a:pt x="4215384" y="0"/>
                  </a:lnTo>
                  <a:lnTo>
                    <a:pt x="42153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935" r="0" b="-569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21538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On-chain reputation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15840">
            <a:off x="1224896" y="9047798"/>
            <a:ext cx="4133898" cy="0"/>
          </a:xfrm>
          <a:prstGeom prst="line">
            <a:avLst/>
          </a:prstGeom>
          <a:ln cap="rnd" w="9525">
            <a:solidFill>
              <a:srgbClr val="2A33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234440" y="9258300"/>
            <a:ext cx="10972800" cy="548640"/>
            <a:chOff x="0" y="0"/>
            <a:chExt cx="14630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AA5B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Trust the code, not the foreman.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3030200" cy="960120"/>
            <a:chOff x="0" y="0"/>
            <a:chExt cx="17373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7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39" r="0" b="-21443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373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$50B+ runs on trust. Trust fails.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22960" cy="822960"/>
            <a:chOff x="0" y="0"/>
            <a:chExt cx="10972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83080" y="2496312"/>
            <a:ext cx="9052560" cy="480060"/>
            <a:chOff x="0" y="0"/>
            <a:chExt cx="120700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Chit funds move serious money informally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83080" y="2976372"/>
            <a:ext cx="9052560" cy="891540"/>
            <a:chOff x="0" y="0"/>
            <a:chExt cx="1207008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70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48" r="0" b="-1478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070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India's chit-fund market is estimated at ₹4-5 lakh crore (~$50B+), much of it run on paper ledgers and WhatsApp groups.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11480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83080" y="4073652"/>
            <a:ext cx="9052560" cy="480060"/>
            <a:chOff x="0" y="0"/>
            <a:chExt cx="1207008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Organizer fraud is endemic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83080" y="4553712"/>
            <a:ext cx="9052560" cy="891540"/>
            <a:chOff x="0" y="0"/>
            <a:chExt cx="1207008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70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48" r="0" b="-14784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070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Foremen have vanished with pooled savings; regulators registered thousands of chit-fund fraud cases in the last decade.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5692140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83080" y="5650992"/>
            <a:ext cx="9052560" cy="480060"/>
            <a:chOff x="0" y="0"/>
            <a:chExt cx="1207008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Zero transparency between members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83080" y="6131052"/>
            <a:ext cx="9052560" cy="891540"/>
            <a:chOff x="0" y="0"/>
            <a:chExt cx="1207008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70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48" r="0" b="-1478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070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Members can't verify who paid, who bid what, or whether the pot was distributed fairly.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7269480"/>
            <a:ext cx="822960" cy="822960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83080" y="7228332"/>
            <a:ext cx="9052560" cy="480060"/>
            <a:chOff x="0" y="0"/>
            <a:chExt cx="1207008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07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432" r="0" b="-3174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0700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Enforcement is social, not contractual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83080" y="7708392"/>
            <a:ext cx="9052560" cy="891540"/>
            <a:chOff x="0" y="0"/>
            <a:chExt cx="1207008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070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48" r="0" b="-1478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070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A defaulter's only penalty is embarrassment; recovery means confrontation or courts.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74755" y="2527935"/>
            <a:ext cx="6054090" cy="6739890"/>
            <a:chOff x="0" y="0"/>
            <a:chExt cx="8072120" cy="8986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72120" cy="8986520"/>
            </a:xfrm>
            <a:custGeom>
              <a:avLst/>
              <a:gdLst/>
              <a:ahLst/>
              <a:cxnLst/>
              <a:rect r="r" b="b" t="t" l="l"/>
              <a:pathLst>
                <a:path h="8986520" w="80721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888605" y="0"/>
                  </a:lnTo>
                  <a:cubicBezTo>
                    <a:pt x="7989951" y="0"/>
                    <a:pt x="8072120" y="82169"/>
                    <a:pt x="8072120" y="183515"/>
                  </a:cubicBezTo>
                  <a:lnTo>
                    <a:pt x="8072120" y="8803005"/>
                  </a:lnTo>
                  <a:cubicBezTo>
                    <a:pt x="8072120" y="8904351"/>
                    <a:pt x="7989951" y="8986520"/>
                    <a:pt x="7888605" y="8986520"/>
                  </a:cubicBezTo>
                  <a:lnTo>
                    <a:pt x="183515" y="8986520"/>
                  </a:lnTo>
                  <a:cubicBezTo>
                    <a:pt x="82169" y="8986520"/>
                    <a:pt x="0" y="8904351"/>
                    <a:pt x="0" y="8803005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864340" y="301752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64340" y="3017520"/>
            <a:ext cx="754380" cy="754380"/>
            <a:chOff x="0" y="0"/>
            <a:chExt cx="100584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🌍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24460" y="3127248"/>
            <a:ext cx="4389120" cy="548640"/>
            <a:chOff x="0" y="0"/>
            <a:chExt cx="58521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Global south parallel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864340" y="4046220"/>
            <a:ext cx="5143500" cy="1920240"/>
            <a:chOff x="0" y="0"/>
            <a:chExt cx="6858000" cy="2560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580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6858000" cy="2636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ROSCAs, committees, and tandas operate identically across Africa, Latin America and Asia — same trust problem everywhere.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12660">
            <a:off x="11854796" y="6236018"/>
            <a:ext cx="5162588" cy="0"/>
          </a:xfrm>
          <a:prstGeom prst="line">
            <a:avLst/>
          </a:prstGeom>
          <a:ln cap="rnd" w="9525">
            <a:solidFill>
              <a:srgbClr val="2A33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1864340" y="6515100"/>
            <a:ext cx="5143500" cy="822960"/>
            <a:chOff x="0" y="0"/>
            <a:chExt cx="685800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5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685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100M+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864340" y="7406640"/>
            <a:ext cx="5143500" cy="685800"/>
            <a:chOff x="0" y="0"/>
            <a:chExt cx="68580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5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858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participants in ROSCAs worldwide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2 / 10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committee as a smart contract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3201162" cy="6465570"/>
            <a:chOff x="0" y="0"/>
            <a:chExt cx="4268216" cy="8620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68216" cy="8620760"/>
            </a:xfrm>
            <a:custGeom>
              <a:avLst/>
              <a:gdLst/>
              <a:ahLst/>
              <a:cxnLst/>
              <a:rect r="r" b="b" t="t" l="l"/>
              <a:pathLst>
                <a:path h="8620760" w="426821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84193" y="0"/>
                  </a:lnTo>
                  <a:cubicBezTo>
                    <a:pt x="4185793" y="0"/>
                    <a:pt x="4268216" y="82423"/>
                    <a:pt x="4268216" y="184023"/>
                  </a:cubicBezTo>
                  <a:lnTo>
                    <a:pt x="4268216" y="8436737"/>
                  </a:lnTo>
                  <a:cubicBezTo>
                    <a:pt x="4268216" y="8538337"/>
                    <a:pt x="4185793" y="8620760"/>
                    <a:pt x="4084193" y="8620760"/>
                  </a:cubicBezTo>
                  <a:lnTo>
                    <a:pt x="184023" y="8620760"/>
                  </a:lnTo>
                  <a:cubicBezTo>
                    <a:pt x="82423" y="8620760"/>
                    <a:pt x="0" y="8538337"/>
                    <a:pt x="0" y="843673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0861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08610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🔒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4712" y="4114800"/>
            <a:ext cx="2578608" cy="1508760"/>
            <a:chOff x="0" y="0"/>
            <a:chExt cx="3438144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8144" cy="2011680"/>
            </a:xfrm>
            <a:custGeom>
              <a:avLst/>
              <a:gdLst/>
              <a:ahLst/>
              <a:cxnLst/>
              <a:rect r="r" b="b" t="t" l="l"/>
              <a:pathLst>
                <a:path h="2011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71" t="0" r="-2507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438144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Funds never touch a human custodian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4712" y="5623560"/>
            <a:ext cx="2578608" cy="3223260"/>
            <a:chOff x="0" y="0"/>
            <a:chExt cx="3438144" cy="4297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38144" cy="4297680"/>
            </a:xfrm>
            <a:custGeom>
              <a:avLst/>
              <a:gdLst/>
              <a:ahLst/>
              <a:cxnLst/>
              <a:rect r="r" b="b" t="t" l="l"/>
              <a:pathLst>
                <a:path h="4297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438144" cy="4364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Contributions sit in a Soroban contract; payouts execute deterministically by lowest-unique-bid rules.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69867" y="2665095"/>
            <a:ext cx="3201162" cy="6465570"/>
            <a:chOff x="0" y="0"/>
            <a:chExt cx="4268216" cy="8620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68216" cy="8620760"/>
            </a:xfrm>
            <a:custGeom>
              <a:avLst/>
              <a:gdLst/>
              <a:ahLst/>
              <a:cxnLst/>
              <a:rect r="r" b="b" t="t" l="l"/>
              <a:pathLst>
                <a:path h="8620760" w="426821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84193" y="0"/>
                  </a:lnTo>
                  <a:cubicBezTo>
                    <a:pt x="4185793" y="0"/>
                    <a:pt x="4268216" y="82423"/>
                    <a:pt x="4268216" y="184023"/>
                  </a:cubicBezTo>
                  <a:lnTo>
                    <a:pt x="4268216" y="8436737"/>
                  </a:lnTo>
                  <a:cubicBezTo>
                    <a:pt x="4268216" y="8538337"/>
                    <a:pt x="4185793" y="8620760"/>
                    <a:pt x="4084193" y="8620760"/>
                  </a:cubicBezTo>
                  <a:lnTo>
                    <a:pt x="184023" y="8620760"/>
                  </a:lnTo>
                  <a:cubicBezTo>
                    <a:pt x="82423" y="8620760"/>
                    <a:pt x="0" y="8538337"/>
                    <a:pt x="0" y="843673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622292" y="3086100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622292" y="3086100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🎯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81144" y="4114800"/>
            <a:ext cx="2578608" cy="1508760"/>
            <a:chOff x="0" y="0"/>
            <a:chExt cx="3438144" cy="2011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38144" cy="2011680"/>
            </a:xfrm>
            <a:custGeom>
              <a:avLst/>
              <a:gdLst/>
              <a:ahLst/>
              <a:cxnLst/>
              <a:rect r="r" b="b" t="t" l="l"/>
              <a:pathLst>
                <a:path h="2011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71" t="0" r="-2507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438144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Sealed bidding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81144" y="5623560"/>
            <a:ext cx="2578608" cy="3223260"/>
            <a:chOff x="0" y="0"/>
            <a:chExt cx="3438144" cy="429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38144" cy="4297680"/>
            </a:xfrm>
            <a:custGeom>
              <a:avLst/>
              <a:gdLst/>
              <a:ahLst/>
              <a:cxnLst/>
              <a:rect r="r" b="b" t="t" l="l"/>
              <a:pathLst>
                <a:path h="4297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3438144" cy="4364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SHA-256 commit-reveal hides bids until reveal phase — no sniping, no organizer peeking.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726299" y="2665095"/>
            <a:ext cx="3201162" cy="6465570"/>
            <a:chOff x="0" y="0"/>
            <a:chExt cx="4268216" cy="8620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8216" cy="8620760"/>
            </a:xfrm>
            <a:custGeom>
              <a:avLst/>
              <a:gdLst/>
              <a:ahLst/>
              <a:cxnLst/>
              <a:rect r="r" b="b" t="t" l="l"/>
              <a:pathLst>
                <a:path h="8620760" w="426821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84193" y="0"/>
                  </a:lnTo>
                  <a:cubicBezTo>
                    <a:pt x="4185793" y="0"/>
                    <a:pt x="4268216" y="82423"/>
                    <a:pt x="4268216" y="184023"/>
                  </a:cubicBezTo>
                  <a:lnTo>
                    <a:pt x="4268216" y="8436737"/>
                  </a:lnTo>
                  <a:cubicBezTo>
                    <a:pt x="4268216" y="8538337"/>
                    <a:pt x="4185793" y="8620760"/>
                    <a:pt x="4084193" y="8620760"/>
                  </a:cubicBezTo>
                  <a:lnTo>
                    <a:pt x="184023" y="8620760"/>
                  </a:lnTo>
                  <a:cubicBezTo>
                    <a:pt x="82423" y="8620760"/>
                    <a:pt x="0" y="8538337"/>
                    <a:pt x="0" y="843673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078724" y="3086100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78724" y="3086100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⭐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37576" y="4114800"/>
            <a:ext cx="2578608" cy="1508760"/>
            <a:chOff x="0" y="0"/>
            <a:chExt cx="3438144" cy="2011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38144" cy="2011680"/>
            </a:xfrm>
            <a:custGeom>
              <a:avLst/>
              <a:gdLst/>
              <a:ahLst/>
              <a:cxnLst/>
              <a:rect r="r" b="b" t="t" l="l"/>
              <a:pathLst>
                <a:path h="2011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71" t="0" r="-2507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38144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Reputation is earned on-chain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37576" y="5623560"/>
            <a:ext cx="2578608" cy="3223260"/>
            <a:chOff x="0" y="0"/>
            <a:chExt cx="3438144" cy="4297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38144" cy="4297680"/>
            </a:xfrm>
            <a:custGeom>
              <a:avLst/>
              <a:gdLst/>
              <a:ahLst/>
              <a:cxnLst/>
              <a:rect r="r" b="b" t="t" l="l"/>
              <a:pathLst>
                <a:path h="4297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438144" cy="4364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Composite score (0–1000) from payment history, completed cycles and dispute outcomes follows the wallet.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82731" y="2665095"/>
            <a:ext cx="3201162" cy="6465570"/>
            <a:chOff x="0" y="0"/>
            <a:chExt cx="4268216" cy="8620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8216" cy="8620760"/>
            </a:xfrm>
            <a:custGeom>
              <a:avLst/>
              <a:gdLst/>
              <a:ahLst/>
              <a:cxnLst/>
              <a:rect r="r" b="b" t="t" l="l"/>
              <a:pathLst>
                <a:path h="8620760" w="426821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84193" y="0"/>
                  </a:lnTo>
                  <a:cubicBezTo>
                    <a:pt x="4185793" y="0"/>
                    <a:pt x="4268216" y="82423"/>
                    <a:pt x="4268216" y="184023"/>
                  </a:cubicBezTo>
                  <a:lnTo>
                    <a:pt x="4268216" y="8436737"/>
                  </a:lnTo>
                  <a:cubicBezTo>
                    <a:pt x="4268216" y="8538337"/>
                    <a:pt x="4185793" y="8620760"/>
                    <a:pt x="4084193" y="8620760"/>
                  </a:cubicBezTo>
                  <a:lnTo>
                    <a:pt x="184023" y="8620760"/>
                  </a:lnTo>
                  <a:cubicBezTo>
                    <a:pt x="82423" y="8620760"/>
                    <a:pt x="0" y="8538337"/>
                    <a:pt x="0" y="843673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535156" y="3086100"/>
            <a:ext cx="754380" cy="754380"/>
            <a:chOff x="0" y="0"/>
            <a:chExt cx="100584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535156" y="3086100"/>
            <a:ext cx="754380" cy="754380"/>
            <a:chOff x="0" y="0"/>
            <a:chExt cx="100584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🛡️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494008" y="4114800"/>
            <a:ext cx="2578608" cy="1508760"/>
            <a:chOff x="0" y="0"/>
            <a:chExt cx="3438144" cy="2011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38144" cy="2011680"/>
            </a:xfrm>
            <a:custGeom>
              <a:avLst/>
              <a:gdLst/>
              <a:ahLst/>
              <a:cxnLst/>
              <a:rect r="r" b="b" t="t" l="l"/>
              <a:pathLst>
                <a:path h="2011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71" t="0" r="-2507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438144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Sybil resistance built-in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494008" y="5623560"/>
            <a:ext cx="2578608" cy="3223260"/>
            <a:chOff x="0" y="0"/>
            <a:chExt cx="3438144" cy="429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38144" cy="4297680"/>
            </a:xfrm>
            <a:custGeom>
              <a:avLst/>
              <a:gdLst/>
              <a:ahLst/>
              <a:cxnLst/>
              <a:rect r="r" b="b" t="t" l="l"/>
              <a:pathLst>
                <a:path h="4297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3438144" cy="4364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Identity vouches are weighted by the voucher's own reputation — fake accounts carry zero weight.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639163" y="2665095"/>
            <a:ext cx="3201162" cy="6465570"/>
            <a:chOff x="0" y="0"/>
            <a:chExt cx="4268216" cy="8620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68216" cy="8620760"/>
            </a:xfrm>
            <a:custGeom>
              <a:avLst/>
              <a:gdLst/>
              <a:ahLst/>
              <a:cxnLst/>
              <a:rect r="r" b="b" t="t" l="l"/>
              <a:pathLst>
                <a:path h="8620760" w="426821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84193" y="0"/>
                  </a:lnTo>
                  <a:cubicBezTo>
                    <a:pt x="4185793" y="0"/>
                    <a:pt x="4268216" y="82423"/>
                    <a:pt x="4268216" y="184023"/>
                  </a:cubicBezTo>
                  <a:lnTo>
                    <a:pt x="4268216" y="8436737"/>
                  </a:lnTo>
                  <a:cubicBezTo>
                    <a:pt x="4268216" y="8538337"/>
                    <a:pt x="4185793" y="8620760"/>
                    <a:pt x="4084193" y="8620760"/>
                  </a:cubicBezTo>
                  <a:lnTo>
                    <a:pt x="184023" y="8620760"/>
                  </a:lnTo>
                  <a:cubicBezTo>
                    <a:pt x="82423" y="8620760"/>
                    <a:pt x="0" y="8538337"/>
                    <a:pt x="0" y="843673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991588" y="3086100"/>
            <a:ext cx="754380" cy="754380"/>
            <a:chOff x="0" y="0"/>
            <a:chExt cx="100584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991588" y="3086100"/>
            <a:ext cx="754380" cy="754380"/>
            <a:chOff x="0" y="0"/>
            <a:chExt cx="1005840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⚖️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50440" y="4114800"/>
            <a:ext cx="2578608" cy="1508760"/>
            <a:chOff x="0" y="0"/>
            <a:chExt cx="3438144" cy="2011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38144" cy="2011680"/>
            </a:xfrm>
            <a:custGeom>
              <a:avLst/>
              <a:gdLst/>
              <a:ahLst/>
              <a:cxnLst/>
              <a:rect r="r" b="b" t="t" l="l"/>
              <a:pathLst>
                <a:path h="2011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71" t="0" r="-250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438144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Disputes get due process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950440" y="5623560"/>
            <a:ext cx="2578608" cy="3223260"/>
            <a:chOff x="0" y="0"/>
            <a:chExt cx="3438144" cy="429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38144" cy="4297680"/>
            </a:xfrm>
            <a:custGeom>
              <a:avLst/>
              <a:gdLst/>
              <a:ahLst/>
              <a:cxnLst/>
              <a:rect r="r" b="b" t="t" l="l"/>
              <a:pathLst>
                <a:path h="4297680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3438144" cy="4364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Any member can escalate to a 3-of-5 multi-sig arbitrator panel with on-chain resolution.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3 / 10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committee lifecycle, four phases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733675"/>
            <a:ext cx="3790950" cy="4339590"/>
            <a:chOff x="0" y="0"/>
            <a:chExt cx="5054600" cy="5786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6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602351"/>
                  </a:lnTo>
                  <a:cubicBezTo>
                    <a:pt x="5054600" y="5703824"/>
                    <a:pt x="4972304" y="5786120"/>
                    <a:pt x="4870831" y="5786120"/>
                  </a:cubicBezTo>
                  <a:lnTo>
                    <a:pt x="183769" y="5786120"/>
                  </a:lnTo>
                  <a:cubicBezTo>
                    <a:pt x="82296" y="5786120"/>
                    <a:pt x="0" y="5703824"/>
                    <a:pt x="0" y="560235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017520"/>
            <a:ext cx="1371600" cy="960120"/>
            <a:chOff x="0" y="0"/>
            <a:chExt cx="18288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28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046220"/>
            <a:ext cx="3223260" cy="617220"/>
            <a:chOff x="0" y="0"/>
            <a:chExt cx="429768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97680" cy="822960"/>
            </a:xfrm>
            <a:custGeom>
              <a:avLst/>
              <a:gdLst/>
              <a:ahLst/>
              <a:cxnLst/>
              <a:rect r="r" b="b" t="t" l="l"/>
              <a:pathLst>
                <a:path h="8229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2976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Forming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4732020"/>
            <a:ext cx="3223260" cy="2125980"/>
            <a:chOff x="0" y="0"/>
            <a:chExt cx="4297680" cy="2834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97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25" t="0" r="-3462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429768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Organizer sets contribution, seats and cycles; members join with attestation checks.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67428" y="456057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28235" y="2733675"/>
            <a:ext cx="3790950" cy="4339590"/>
            <a:chOff x="0" y="0"/>
            <a:chExt cx="5054600" cy="5786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546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602351"/>
                  </a:lnTo>
                  <a:cubicBezTo>
                    <a:pt x="5054600" y="5703824"/>
                    <a:pt x="4972304" y="5786120"/>
                    <a:pt x="4870831" y="5786120"/>
                  </a:cubicBezTo>
                  <a:lnTo>
                    <a:pt x="183769" y="5786120"/>
                  </a:lnTo>
                  <a:cubicBezTo>
                    <a:pt x="82296" y="5786120"/>
                    <a:pt x="0" y="5703824"/>
                    <a:pt x="0" y="5602351"/>
                  </a:cubicBezTo>
                  <a:close/>
                </a:path>
              </a:pathLst>
            </a:custGeom>
            <a:solidFill>
              <a:srgbClr val="1B2439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212080" y="3017520"/>
            <a:ext cx="1371600" cy="960120"/>
            <a:chOff x="0" y="0"/>
            <a:chExt cx="182880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828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12080" y="4046220"/>
            <a:ext cx="3223260" cy="617220"/>
            <a:chOff x="0" y="0"/>
            <a:chExt cx="429768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7680" cy="822960"/>
            </a:xfrm>
            <a:custGeom>
              <a:avLst/>
              <a:gdLst/>
              <a:ahLst/>
              <a:cxnLst/>
              <a:rect r="r" b="b" t="t" l="l"/>
              <a:pathLst>
                <a:path h="8229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2976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Collecting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12080" y="4732020"/>
            <a:ext cx="3223260" cy="2125980"/>
            <a:chOff x="0" y="0"/>
            <a:chExt cx="4297680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97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25" t="0" r="-3462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429768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Every member pays the cycle contribution in USDC straight into the contract.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82228" y="4560570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43035" y="2733675"/>
            <a:ext cx="3790950" cy="4339590"/>
            <a:chOff x="0" y="0"/>
            <a:chExt cx="5054600" cy="5786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546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602351"/>
                  </a:lnTo>
                  <a:cubicBezTo>
                    <a:pt x="5054600" y="5703824"/>
                    <a:pt x="4972304" y="5786120"/>
                    <a:pt x="4870831" y="5786120"/>
                  </a:cubicBezTo>
                  <a:lnTo>
                    <a:pt x="183769" y="5786120"/>
                  </a:lnTo>
                  <a:cubicBezTo>
                    <a:pt x="82296" y="5786120"/>
                    <a:pt x="0" y="5703824"/>
                    <a:pt x="0" y="560235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3017520"/>
            <a:ext cx="1371600" cy="960120"/>
            <a:chOff x="0" y="0"/>
            <a:chExt cx="182880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828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4046220"/>
            <a:ext cx="3223260" cy="617220"/>
            <a:chOff x="0" y="0"/>
            <a:chExt cx="429768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97680" cy="822960"/>
            </a:xfrm>
            <a:custGeom>
              <a:avLst/>
              <a:gdLst/>
              <a:ahLst/>
              <a:cxnLst/>
              <a:rect r="r" b="b" t="t" l="l"/>
              <a:pathLst>
                <a:path h="8229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2976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Bidding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4732020"/>
            <a:ext cx="3223260" cy="2125980"/>
            <a:chOff x="0" y="0"/>
            <a:chExt cx="4297680" cy="2834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25" t="0" r="-3462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429768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Sealed commits, then reveals. Lowest unique bid wins the entire pool.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797028" y="4560570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57835" y="2733675"/>
            <a:ext cx="3790950" cy="4339590"/>
            <a:chOff x="0" y="0"/>
            <a:chExt cx="5054600" cy="5786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546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602351"/>
                  </a:lnTo>
                  <a:cubicBezTo>
                    <a:pt x="5054600" y="5703824"/>
                    <a:pt x="4972304" y="5786120"/>
                    <a:pt x="4870831" y="5786120"/>
                  </a:cubicBezTo>
                  <a:lnTo>
                    <a:pt x="183769" y="5786120"/>
                  </a:lnTo>
                  <a:cubicBezTo>
                    <a:pt x="82296" y="5786120"/>
                    <a:pt x="0" y="5703824"/>
                    <a:pt x="0" y="5602351"/>
                  </a:cubicBezTo>
                  <a:close/>
                </a:path>
              </a:pathLst>
            </a:custGeom>
            <a:solidFill>
              <a:srgbClr val="1B2439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41680" y="3017520"/>
            <a:ext cx="1371600" cy="960120"/>
            <a:chOff x="0" y="0"/>
            <a:chExt cx="1828800" cy="1280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828800" cy="1308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441680" y="4046220"/>
            <a:ext cx="3223260" cy="617220"/>
            <a:chOff x="0" y="0"/>
            <a:chExt cx="4297680" cy="822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7680" cy="822960"/>
            </a:xfrm>
            <a:custGeom>
              <a:avLst/>
              <a:gdLst/>
              <a:ahLst/>
              <a:cxnLst/>
              <a:rect r="r" b="b" t="t" l="l"/>
              <a:pathLst>
                <a:path h="8229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2976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Payout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441680" y="4732020"/>
            <a:ext cx="3223260" cy="2125980"/>
            <a:chOff x="0" y="0"/>
            <a:chExt cx="4297680" cy="2834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97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25" t="0" r="-3462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4297680" cy="2910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Contract transfers the pool instantly and records reputation for all members.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7406640"/>
            <a:ext cx="15773400" cy="617220"/>
            <a:chOff x="0" y="0"/>
            <a:chExt cx="21031200" cy="8229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103120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9AA5B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Repeat cycles 2–4 until every member has had a turn at the pool — then the group completes.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3435" y="8220075"/>
            <a:ext cx="15792450" cy="1047750"/>
            <a:chOff x="0" y="0"/>
            <a:chExt cx="21056600" cy="1397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056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056600">
                  <a:moveTo>
                    <a:pt x="0" y="186309"/>
                  </a:moveTo>
                  <a:cubicBezTo>
                    <a:pt x="0" y="83439"/>
                    <a:pt x="83439" y="0"/>
                    <a:pt x="186309" y="0"/>
                  </a:cubicBezTo>
                  <a:lnTo>
                    <a:pt x="20870290" y="0"/>
                  </a:lnTo>
                  <a:cubicBezTo>
                    <a:pt x="20973160" y="0"/>
                    <a:pt x="21056600" y="83439"/>
                    <a:pt x="21056600" y="186309"/>
                  </a:cubicBezTo>
                  <a:lnTo>
                    <a:pt x="21056600" y="1210691"/>
                  </a:lnTo>
                  <a:cubicBezTo>
                    <a:pt x="21056600" y="1313561"/>
                    <a:pt x="20973160" y="1397000"/>
                    <a:pt x="20870290" y="1397000"/>
                  </a:cubicBezTo>
                  <a:lnTo>
                    <a:pt x="186309" y="1397000"/>
                  </a:lnTo>
                  <a:cubicBezTo>
                    <a:pt x="83439" y="1397000"/>
                    <a:pt x="0" y="1313561"/>
                    <a:pt x="0" y="121069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" y="8229600"/>
            <a:ext cx="15087600" cy="1028700"/>
            <a:chOff x="0" y="0"/>
            <a:chExt cx="20116800" cy="137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116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01168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Live product:  </a:t>
              </a:r>
              <a:r>
                <a:rPr lang="en-US" b="true" sz="1950" u="sng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  <a:hlinkClick r:id="rId4" tooltip="https://chain-chit.vercel.app"/>
                </a:rPr>
                <a:t>chain-chit.vercel.app</a:t>
              </a: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      Walkthrough:  </a:t>
              </a:r>
              <a:r>
                <a:rPr lang="en-US" b="true" sz="1950" u="sng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  <a:hlinkClick r:id="rId5" tooltip="https://youtu.be/PG6lmdV_pBI"/>
                </a:rPr>
                <a:t>youtube.com/watch?v=un31dgbHZ48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4 / 10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MARKET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Huge informal market, regulatory tailwind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96515"/>
            <a:ext cx="5162550" cy="2350770"/>
            <a:chOff x="0" y="0"/>
            <a:chExt cx="6883400" cy="3134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34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688340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698996" y="0"/>
                  </a:lnTo>
                  <a:cubicBezTo>
                    <a:pt x="6800850" y="0"/>
                    <a:pt x="6883400" y="82550"/>
                    <a:pt x="6883400" y="184404"/>
                  </a:cubicBezTo>
                  <a:lnTo>
                    <a:pt x="6883400" y="2949956"/>
                  </a:lnTo>
                  <a:cubicBezTo>
                    <a:pt x="6883400" y="3051810"/>
                    <a:pt x="6800850" y="3134360"/>
                    <a:pt x="669899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11780"/>
            <a:ext cx="4457700" cy="1165860"/>
            <a:chOff x="0" y="0"/>
            <a:chExt cx="594360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94360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~$50B+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4046220"/>
            <a:ext cx="4457700" cy="754380"/>
            <a:chOff x="0" y="0"/>
            <a:chExt cx="594360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943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Indian chit funds AUM estimate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99835" y="2596515"/>
            <a:ext cx="5162550" cy="2350770"/>
            <a:chOff x="0" y="0"/>
            <a:chExt cx="6883400" cy="3134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34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688340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698996" y="0"/>
                  </a:lnTo>
                  <a:cubicBezTo>
                    <a:pt x="6800850" y="0"/>
                    <a:pt x="6883400" y="82550"/>
                    <a:pt x="6883400" y="184404"/>
                  </a:cubicBezTo>
                  <a:lnTo>
                    <a:pt x="6883400" y="2949956"/>
                  </a:lnTo>
                  <a:cubicBezTo>
                    <a:pt x="6883400" y="3051810"/>
                    <a:pt x="6800850" y="3134360"/>
                    <a:pt x="669899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52260" y="2811780"/>
            <a:ext cx="4457700" cy="1165860"/>
            <a:chOff x="0" y="0"/>
            <a:chExt cx="594360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94360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100M+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52260" y="4046220"/>
            <a:ext cx="4457700" cy="754380"/>
            <a:chOff x="0" y="0"/>
            <a:chExt cx="594360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943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Participants in ROSCAs worldwide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86235" y="2596515"/>
            <a:ext cx="5162550" cy="2350770"/>
            <a:chOff x="0" y="0"/>
            <a:chExt cx="6883400" cy="3134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83400" cy="3134360"/>
            </a:xfrm>
            <a:custGeom>
              <a:avLst/>
              <a:gdLst/>
              <a:ahLst/>
              <a:cxnLst/>
              <a:rect r="r" b="b" t="t" l="l"/>
              <a:pathLst>
                <a:path h="3134360" w="688340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6698996" y="0"/>
                  </a:lnTo>
                  <a:cubicBezTo>
                    <a:pt x="6800850" y="0"/>
                    <a:pt x="6883400" y="82550"/>
                    <a:pt x="6883400" y="184404"/>
                  </a:cubicBezTo>
                  <a:lnTo>
                    <a:pt x="6883400" y="2949956"/>
                  </a:lnTo>
                  <a:cubicBezTo>
                    <a:pt x="6883400" y="3051810"/>
                    <a:pt x="6800850" y="3134360"/>
                    <a:pt x="669899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38660" y="2811780"/>
            <a:ext cx="4457700" cy="1165860"/>
            <a:chOff x="0" y="0"/>
            <a:chExt cx="59436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94360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$1.4T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38660" y="4046220"/>
            <a:ext cx="4457700" cy="754380"/>
            <a:chOff x="0" y="0"/>
            <a:chExt cx="59436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943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Global remittances / yr — stablecoin rail ready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664708"/>
            <a:ext cx="164592" cy="164592"/>
            <a:chOff x="0" y="0"/>
            <a:chExt cx="219456" cy="219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" y="5554980"/>
            <a:ext cx="2880360" cy="685800"/>
            <a:chOff x="0" y="0"/>
            <a:chExt cx="384048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840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Beachhead: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51960" y="5554980"/>
            <a:ext cx="12344400" cy="960120"/>
            <a:chOff x="0" y="0"/>
            <a:chExt cx="1645920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645920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Tech-comfortable Indian savers already using USDC; testnet communities and hackathon ecosystems.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6871716"/>
            <a:ext cx="164592" cy="164592"/>
            <a:chOff x="0" y="0"/>
            <a:chExt cx="219456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" y="6761988"/>
            <a:ext cx="2880360" cy="685800"/>
            <a:chOff x="0" y="0"/>
            <a:chExt cx="384048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840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now: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251960" y="6761988"/>
            <a:ext cx="12344400" cy="960120"/>
            <a:chOff x="0" y="0"/>
            <a:chExt cx="16459200" cy="1280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645920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Soroban mainnet mature, SEP-24 ramps connect bank accounts to stablecoins, stablecoin regulation clearing globally.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8078724"/>
            <a:ext cx="164592" cy="164592"/>
            <a:chOff x="0" y="0"/>
            <a:chExt cx="219456" cy="2194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" y="7968996"/>
            <a:ext cx="2880360" cy="685800"/>
            <a:chOff x="0" y="0"/>
            <a:chExt cx="384048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840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Expansion path: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251960" y="7968996"/>
            <a:ext cx="12344400" cy="960120"/>
            <a:chOff x="0" y="0"/>
            <a:chExt cx="1645920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45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645920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Committee finance for gig-worker communities, diaspora savings circles, DAO treasuries running internal committees.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5 / 10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Four contracts, one trust fabric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9483090" cy="1322070"/>
            <a:chOff x="0" y="0"/>
            <a:chExt cx="12644120" cy="1762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441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26441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95657" y="0"/>
                  </a:lnTo>
                  <a:cubicBezTo>
                    <a:pt x="12577699" y="0"/>
                    <a:pt x="12644120" y="66421"/>
                    <a:pt x="12644120" y="148463"/>
                  </a:cubicBezTo>
                  <a:lnTo>
                    <a:pt x="12644120" y="1614297"/>
                  </a:lnTo>
                  <a:cubicBezTo>
                    <a:pt x="12644120" y="1696339"/>
                    <a:pt x="12577699" y="1762760"/>
                    <a:pt x="1249565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94894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94894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63140" y="2811780"/>
            <a:ext cx="2880360" cy="1028700"/>
            <a:chOff x="0" y="0"/>
            <a:chExt cx="384048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40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840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Factory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74920" y="2811780"/>
            <a:ext cx="5006340" cy="1028700"/>
            <a:chOff x="0" y="0"/>
            <a:chExt cx="667512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7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27" r="0" b="-448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67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Deploys ChitGroup instances, tracks user groups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3435" y="4201287"/>
            <a:ext cx="9483090" cy="1322070"/>
            <a:chOff x="0" y="0"/>
            <a:chExt cx="12644120" cy="1762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441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26441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95657" y="0"/>
                  </a:lnTo>
                  <a:cubicBezTo>
                    <a:pt x="12577699" y="0"/>
                    <a:pt x="12644120" y="66421"/>
                    <a:pt x="12644120" y="148463"/>
                  </a:cubicBezTo>
                  <a:lnTo>
                    <a:pt x="12644120" y="1614297"/>
                  </a:lnTo>
                  <a:cubicBezTo>
                    <a:pt x="12644120" y="1696339"/>
                    <a:pt x="12577699" y="1762760"/>
                    <a:pt x="1249565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4485132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4485132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63140" y="4347972"/>
            <a:ext cx="2880360" cy="1028700"/>
            <a:chOff x="0" y="0"/>
            <a:chExt cx="384048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0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840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ChitGroup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74920" y="4347972"/>
            <a:ext cx="5006340" cy="1028700"/>
            <a:chOff x="0" y="0"/>
            <a:chExt cx="667512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7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27" r="0" b="-448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67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Lifecycle, contributions, commit-reveal bids, payouts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435" y="5737479"/>
            <a:ext cx="9483090" cy="1322070"/>
            <a:chOff x="0" y="0"/>
            <a:chExt cx="12644120" cy="1762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441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26441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95657" y="0"/>
                  </a:lnTo>
                  <a:cubicBezTo>
                    <a:pt x="12577699" y="0"/>
                    <a:pt x="12644120" y="66421"/>
                    <a:pt x="12644120" y="148463"/>
                  </a:cubicBezTo>
                  <a:lnTo>
                    <a:pt x="12644120" y="1614297"/>
                  </a:lnTo>
                  <a:cubicBezTo>
                    <a:pt x="12644120" y="1696339"/>
                    <a:pt x="12577699" y="1762760"/>
                    <a:pt x="1249565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65860" y="6021324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6021324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263140" y="5884164"/>
            <a:ext cx="2880360" cy="1028700"/>
            <a:chOff x="0" y="0"/>
            <a:chExt cx="384048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40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840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Reputation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74920" y="5884164"/>
            <a:ext cx="5006340" cy="1028700"/>
            <a:chOff x="0" y="0"/>
            <a:chExt cx="667512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7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27" r="0" b="-448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67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On-time ratio, composite score 0–1000, established flag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7273671"/>
            <a:ext cx="9483090" cy="1322070"/>
            <a:chOff x="0" y="0"/>
            <a:chExt cx="12644120" cy="1762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6441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26441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2495657" y="0"/>
                  </a:lnTo>
                  <a:cubicBezTo>
                    <a:pt x="12577699" y="0"/>
                    <a:pt x="12644120" y="66421"/>
                    <a:pt x="12644120" y="148463"/>
                  </a:cubicBezTo>
                  <a:lnTo>
                    <a:pt x="12644120" y="1614297"/>
                  </a:lnTo>
                  <a:cubicBezTo>
                    <a:pt x="12644120" y="1696339"/>
                    <a:pt x="12577699" y="1762760"/>
                    <a:pt x="1249565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7557516"/>
            <a:ext cx="754380" cy="754380"/>
            <a:chOff x="0" y="0"/>
            <a:chExt cx="100584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5860" y="7557516"/>
            <a:ext cx="754380" cy="754380"/>
            <a:chOff x="0" y="0"/>
            <a:chExt cx="100584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7"/>
                </a:lnSpc>
              </a:pPr>
              <a:r>
                <a:rPr lang="en-US" sz="1814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263140" y="7420356"/>
            <a:ext cx="2880360" cy="1028700"/>
            <a:chOff x="0" y="0"/>
            <a:chExt cx="3840480" cy="1371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40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84048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Identity + Dispute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074920" y="7420356"/>
            <a:ext cx="5006340" cy="1028700"/>
            <a:chOff x="0" y="0"/>
            <a:chExt cx="6675120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75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27" r="0" b="-4482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6751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Weighted attestations · 3-of-5 arbitration panel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757535" y="2665095"/>
            <a:ext cx="6671310" cy="6396990"/>
            <a:chOff x="0" y="0"/>
            <a:chExt cx="8895080" cy="85293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95080" cy="8529320"/>
            </a:xfrm>
            <a:custGeom>
              <a:avLst/>
              <a:gdLst/>
              <a:ahLst/>
              <a:cxnLst/>
              <a:rect r="r" b="b" t="t" l="l"/>
              <a:pathLst>
                <a:path h="8529320" w="889508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8711565" y="0"/>
                  </a:lnTo>
                  <a:cubicBezTo>
                    <a:pt x="8812911" y="0"/>
                    <a:pt x="8895080" y="82169"/>
                    <a:pt x="8895080" y="183515"/>
                  </a:cubicBezTo>
                  <a:lnTo>
                    <a:pt x="8895080" y="8345805"/>
                  </a:lnTo>
                  <a:cubicBezTo>
                    <a:pt x="8895080" y="8447151"/>
                    <a:pt x="8812911" y="8529320"/>
                    <a:pt x="8711565" y="8529320"/>
                  </a:cubicBezTo>
                  <a:lnTo>
                    <a:pt x="183515" y="8529320"/>
                  </a:lnTo>
                  <a:cubicBezTo>
                    <a:pt x="82169" y="8529320"/>
                    <a:pt x="0" y="8447151"/>
                    <a:pt x="0" y="8345805"/>
                  </a:cubicBezTo>
                  <a:close/>
                </a:path>
              </a:pathLst>
            </a:custGeom>
            <a:solidFill>
              <a:srgbClr val="1B2439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178540" y="2948940"/>
            <a:ext cx="5486400" cy="480060"/>
            <a:chOff x="0" y="0"/>
            <a:chExt cx="73152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7315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178540" y="3593592"/>
            <a:ext cx="1783080" cy="480060"/>
            <a:chOff x="0" y="0"/>
            <a:chExt cx="237744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2377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78540" y="4032504"/>
            <a:ext cx="5829300" cy="576072"/>
            <a:chOff x="0" y="0"/>
            <a:chExt cx="7772400" cy="7680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772400" cy="768096"/>
            </a:xfrm>
            <a:custGeom>
              <a:avLst/>
              <a:gdLst/>
              <a:ahLst/>
              <a:cxnLst/>
              <a:rect r="r" b="b" t="t" l="l"/>
              <a:pathLst>
                <a:path h="768096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772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Next.js 14, TypeScript strict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178540" y="4663440"/>
            <a:ext cx="1783080" cy="480060"/>
            <a:chOff x="0" y="0"/>
            <a:chExt cx="2377440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2377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Wallets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178540" y="5102352"/>
            <a:ext cx="5829300" cy="576072"/>
            <a:chOff x="0" y="0"/>
            <a:chExt cx="7772400" cy="7680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772400" cy="768096"/>
            </a:xfrm>
            <a:custGeom>
              <a:avLst/>
              <a:gdLst/>
              <a:ahLst/>
              <a:cxnLst/>
              <a:rect r="r" b="b" t="t" l="l"/>
              <a:pathLst>
                <a:path h="768096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772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Freighter, xBull, Lobstr via wallet-kit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178540" y="5733288"/>
            <a:ext cx="1783080" cy="480060"/>
            <a:chOff x="0" y="0"/>
            <a:chExt cx="237744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2377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Rails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178540" y="6172200"/>
            <a:ext cx="5829300" cy="576072"/>
            <a:chOff x="0" y="0"/>
            <a:chExt cx="7772400" cy="7680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772400" cy="768096"/>
            </a:xfrm>
            <a:custGeom>
              <a:avLst/>
              <a:gdLst/>
              <a:ahLst/>
              <a:cxnLst/>
              <a:rect r="r" b="b" t="t" l="l"/>
              <a:pathLst>
                <a:path h="768096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772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Stellar Soroban RPC + Horizon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78540" y="6803136"/>
            <a:ext cx="1783080" cy="480060"/>
            <a:chOff x="0" y="0"/>
            <a:chExt cx="2377440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2377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Ramp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178540" y="7242048"/>
            <a:ext cx="5829300" cy="576072"/>
            <a:chOff x="0" y="0"/>
            <a:chExt cx="7772400" cy="768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772400" cy="768096"/>
            </a:xfrm>
            <a:custGeom>
              <a:avLst/>
              <a:gdLst/>
              <a:ahLst/>
              <a:cxnLst/>
              <a:rect r="r" b="b" t="t" l="l"/>
              <a:pathLst>
                <a:path h="768096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772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SEP-24 anchor: INR ↔ USDC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178540" y="7872984"/>
            <a:ext cx="1783080" cy="480060"/>
            <a:chOff x="0" y="0"/>
            <a:chExt cx="2377440" cy="6400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77440" cy="640080"/>
            </a:xfrm>
            <a:custGeom>
              <a:avLst/>
              <a:gdLst/>
              <a:ahLst/>
              <a:cxnLst/>
              <a:rect r="r" b="b" t="t" l="l"/>
              <a:pathLst>
                <a:path h="64008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2377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Quality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178540" y="8311896"/>
            <a:ext cx="5829300" cy="576072"/>
            <a:chOff x="0" y="0"/>
            <a:chExt cx="7772400" cy="76809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772400" cy="768096"/>
            </a:xfrm>
            <a:custGeom>
              <a:avLst/>
              <a:gdLst/>
              <a:ahLst/>
              <a:cxnLst/>
              <a:rect r="r" b="b" t="t" l="l"/>
              <a:pathLst>
                <a:path h="768096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70" r="0" b="-1471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777240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CI pipeline, security-audit checklist, Rust unit tests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6 / 10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on Stellar testnet today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96515"/>
            <a:ext cx="3790950" cy="2076450"/>
            <a:chOff x="0" y="0"/>
            <a:chExt cx="505460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6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0546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870069" y="0"/>
                  </a:lnTo>
                  <a:cubicBezTo>
                    <a:pt x="4971923" y="0"/>
                    <a:pt x="5054600" y="82677"/>
                    <a:pt x="5054600" y="184531"/>
                  </a:cubicBezTo>
                  <a:lnTo>
                    <a:pt x="5054600" y="2584069"/>
                  </a:lnTo>
                  <a:cubicBezTo>
                    <a:pt x="5054600" y="2686050"/>
                    <a:pt x="4971923" y="2768600"/>
                    <a:pt x="487006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770632"/>
            <a:ext cx="3223260" cy="1028700"/>
            <a:chOff x="0" y="0"/>
            <a:chExt cx="429768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97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3" r="0" b="-110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297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</a:t>
              </a:r>
              <a:r>
                <a:rPr lang="en-US" sz="45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867912"/>
            <a:ext cx="3223260" cy="685800"/>
            <a:chOff x="0" y="0"/>
            <a:chExt cx="429768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297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Meaningful commits, public repo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859655" y="2596515"/>
            <a:ext cx="3790950" cy="2076450"/>
            <a:chOff x="0" y="0"/>
            <a:chExt cx="5054600" cy="276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546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0546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870069" y="0"/>
                  </a:lnTo>
                  <a:cubicBezTo>
                    <a:pt x="4971923" y="0"/>
                    <a:pt x="5054600" y="82677"/>
                    <a:pt x="5054600" y="184531"/>
                  </a:cubicBezTo>
                  <a:lnTo>
                    <a:pt x="5054600" y="2584069"/>
                  </a:lnTo>
                  <a:cubicBezTo>
                    <a:pt x="5054600" y="2686050"/>
                    <a:pt x="4971923" y="2768600"/>
                    <a:pt x="487006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143500" y="2770632"/>
            <a:ext cx="3223260" cy="1028700"/>
            <a:chOff x="0" y="0"/>
            <a:chExt cx="429768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7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3" r="0" b="-110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297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13→50+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43500" y="3867912"/>
            <a:ext cx="3223260" cy="685800"/>
            <a:chOff x="0" y="0"/>
            <a:chExt cx="42976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297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Testnet wallets onboarded this level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05875" y="2596515"/>
            <a:ext cx="3790950" cy="2076450"/>
            <a:chOff x="0" y="0"/>
            <a:chExt cx="5054600" cy="2768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46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0546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870069" y="0"/>
                  </a:lnTo>
                  <a:cubicBezTo>
                    <a:pt x="4971923" y="0"/>
                    <a:pt x="5054600" y="82677"/>
                    <a:pt x="5054600" y="184531"/>
                  </a:cubicBezTo>
                  <a:lnTo>
                    <a:pt x="5054600" y="2584069"/>
                  </a:lnTo>
                  <a:cubicBezTo>
                    <a:pt x="5054600" y="2686050"/>
                    <a:pt x="4971923" y="2768600"/>
                    <a:pt x="487006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189720" y="2770632"/>
            <a:ext cx="3223260" cy="1028700"/>
            <a:chOff x="0" y="0"/>
            <a:chExt cx="429768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97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3" r="0" b="-110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297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  <a:r>
                <a:rPr lang="en-US" sz="450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89720" y="3867912"/>
            <a:ext cx="3223260" cy="685800"/>
            <a:chOff x="0" y="0"/>
            <a:chExt cx="42976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297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Committees running real cycles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52095" y="2596515"/>
            <a:ext cx="3790950" cy="2076450"/>
            <a:chOff x="0" y="0"/>
            <a:chExt cx="5054600" cy="2768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546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50546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4870069" y="0"/>
                  </a:lnTo>
                  <a:cubicBezTo>
                    <a:pt x="4971923" y="0"/>
                    <a:pt x="5054600" y="82677"/>
                    <a:pt x="5054600" y="184531"/>
                  </a:cubicBezTo>
                  <a:lnTo>
                    <a:pt x="5054600" y="2584069"/>
                  </a:lnTo>
                  <a:cubicBezTo>
                    <a:pt x="5054600" y="2686050"/>
                    <a:pt x="4971923" y="2768600"/>
                    <a:pt x="487006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235940" y="2770632"/>
            <a:ext cx="3223260" cy="1028700"/>
            <a:chOff x="0" y="0"/>
            <a:chExt cx="429768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3" r="0" b="-110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297680" cy="140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100%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35940" y="3867912"/>
            <a:ext cx="3223260" cy="685800"/>
            <a:chOff x="0" y="0"/>
            <a:chExt cx="429768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9" r="0" b="-415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976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Uptime since deploy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5253228"/>
            <a:ext cx="164592" cy="164592"/>
            <a:chOff x="0" y="0"/>
            <a:chExt cx="219456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" y="5143500"/>
            <a:ext cx="3154680" cy="754380"/>
            <a:chOff x="0" y="0"/>
            <a:chExt cx="42062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2062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Deployed: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26280" y="5143500"/>
            <a:ext cx="12207240" cy="1028700"/>
            <a:chOff x="0" y="0"/>
            <a:chExt cx="16276320" cy="137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27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16276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Factory, Reputation, Identity, Dispute live on testnet; two active committees with funded members.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323076"/>
            <a:ext cx="164592" cy="164592"/>
            <a:chOff x="0" y="0"/>
            <a:chExt cx="219456" cy="2194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" y="6213348"/>
            <a:ext cx="3154680" cy="754380"/>
            <a:chOff x="0" y="0"/>
            <a:chExt cx="420624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2062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Feedback loop running: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526280" y="6213348"/>
            <a:ext cx="12207240" cy="1028700"/>
            <a:chOff x="0" y="0"/>
            <a:chExt cx="16276320" cy="1371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27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16276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Google Form collects structured feedback per user; workbook analysis drives the improvement backlog.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392924"/>
            <a:ext cx="164592" cy="164592"/>
            <a:chOff x="0" y="0"/>
            <a:chExt cx="219456" cy="2194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" y="7283196"/>
            <a:ext cx="3154680" cy="754380"/>
            <a:chOff x="0" y="0"/>
            <a:chExt cx="420624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2062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Shipped this level: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526280" y="7283196"/>
            <a:ext cx="12207240" cy="1028700"/>
            <a:chOff x="0" y="0"/>
            <a:chExt cx="1627632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27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16276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Onboarding checklist, committee timeline visualization, live bid-insight panel — each mapped to a UX finding with commit evidence.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8462772"/>
            <a:ext cx="164592" cy="164592"/>
            <a:chOff x="0" y="0"/>
            <a:chExt cx="219456" cy="2194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34440" y="8353044"/>
            <a:ext cx="3154680" cy="754380"/>
            <a:chOff x="0" y="0"/>
            <a:chExt cx="420624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062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Verifiable: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526280" y="8353044"/>
            <a:ext cx="12207240" cy="1028700"/>
            <a:chOff x="0" y="0"/>
            <a:chExt cx="16276320" cy="1371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27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222" r="0" b="-18122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1627632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Every claim links to Stellar Expert explorer pages, tx hashes and commit history in the README.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7 / 10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GROWTH 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Committee-led loops, not paid ads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1660" y="2647188"/>
            <a:ext cx="4389120" cy="685800"/>
            <a:chOff x="0" y="0"/>
            <a:chExt cx="58521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Organizer-first onboarding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46520" y="2606040"/>
            <a:ext cx="10149840" cy="754380"/>
            <a:chOff x="0" y="0"/>
            <a:chExt cx="1353312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3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62" r="0" b="-2121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533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In real chit funds one foreman brings 10–20 members. Provisioning tooling lets an organizer stand up a full committee in minutes — growth compounds per committee, not per user.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97764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3977640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3950208"/>
            <a:ext cx="4389120" cy="685800"/>
            <a:chOff x="0" y="0"/>
            <a:chExt cx="585216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Reputation as lock-in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46520" y="3909060"/>
            <a:ext cx="10149840" cy="754380"/>
            <a:chOff x="0" y="0"/>
            <a:chExt cx="1353312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53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62" r="0" b="-2121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3533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Scores accrue to wallets across groups; leaving ChainChit means abandoning your on-chain credit history.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528066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280660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51660" y="5253228"/>
            <a:ext cx="4389120" cy="685800"/>
            <a:chOff x="0" y="0"/>
            <a:chExt cx="585216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Community seeding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46520" y="5212080"/>
            <a:ext cx="10149840" cy="754380"/>
            <a:chOff x="0" y="0"/>
            <a:chExt cx="1353312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53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62" r="0" b="-2121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3533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Hackathon cohorts, Stellar community channels, university fintech clubs — committees formed where savers already gather.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658368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658368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6556248"/>
            <a:ext cx="4389120" cy="685800"/>
            <a:chOff x="0" y="0"/>
            <a:chExt cx="585216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Content flywheel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446520" y="6515100"/>
            <a:ext cx="10149840" cy="754380"/>
            <a:chOff x="0" y="0"/>
            <a:chExt cx="1353312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53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62" r="0" b="-2121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3533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Demo walkthroughs, explainer threads and transparent explorer links make every committee a shareable proof.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788670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788670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51660" y="7859268"/>
            <a:ext cx="4389120" cy="685800"/>
            <a:chOff x="0" y="0"/>
            <a:chExt cx="585216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8521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Retention mechanics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446520" y="7818120"/>
            <a:ext cx="10149840" cy="754380"/>
            <a:chOff x="0" y="0"/>
            <a:chExt cx="1353312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533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162" r="0" b="-21216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3533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Multi-cycle groups create recurring engagement; reputation gates reward consistent participation with cheaper access to pools.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8 / 10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9202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From testnet proof to mainnet money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10560">
            <a:off x="2689831" y="3488055"/>
            <a:ext cx="12382557" cy="0"/>
          </a:xfrm>
          <a:prstGeom prst="line">
            <a:avLst/>
          </a:prstGeom>
          <a:ln cap="rnd" w="19050">
            <a:solidFill>
              <a:srgbClr val="2A33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529459" y="3318129"/>
            <a:ext cx="358902" cy="358902"/>
            <a:chOff x="0" y="0"/>
            <a:chExt cx="478536" cy="478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8B5CF6"/>
            </a:solidFill>
            <a:ln w="57150" cap="sq">
              <a:solidFill>
                <a:srgbClr val="0B0F1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3909060"/>
            <a:ext cx="3771900" cy="548640"/>
            <a:chOff x="0" y="0"/>
            <a:chExt cx="5029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2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029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5 · Now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3435" y="4516755"/>
            <a:ext cx="3790950" cy="3928110"/>
            <a:chOff x="0" y="0"/>
            <a:chExt cx="5054600" cy="5237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600" cy="5237480"/>
            </a:xfrm>
            <a:custGeom>
              <a:avLst/>
              <a:gdLst/>
              <a:ahLst/>
              <a:cxnLst/>
              <a:rect r="r" b="b" t="t" l="l"/>
              <a:pathLst>
                <a:path h="523748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053711"/>
                  </a:lnTo>
                  <a:cubicBezTo>
                    <a:pt x="5054600" y="5155184"/>
                    <a:pt x="4972304" y="5237480"/>
                    <a:pt x="4870831" y="5237480"/>
                  </a:cubicBezTo>
                  <a:lnTo>
                    <a:pt x="183769" y="5237480"/>
                  </a:lnTo>
                  <a:cubicBezTo>
                    <a:pt x="82296" y="5237480"/>
                    <a:pt x="0" y="5155184"/>
                    <a:pt x="0" y="505371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4800600"/>
            <a:ext cx="3223260" cy="3429000"/>
            <a:chOff x="0" y="0"/>
            <a:chExt cx="4297680" cy="457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9768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493" t="0" r="-8649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4297680" cy="464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50+ testnet wallets, feedback-driven iteration, pitch &amp; demo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44259" y="3318129"/>
            <a:ext cx="358902" cy="358902"/>
            <a:chOff x="0" y="0"/>
            <a:chExt cx="478536" cy="4785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22D3EE"/>
            </a:solidFill>
            <a:ln w="57150" cap="sq">
              <a:solidFill>
                <a:srgbClr val="0B0F1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937760" y="3909060"/>
            <a:ext cx="3771900" cy="548640"/>
            <a:chOff x="0" y="0"/>
            <a:chExt cx="50292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029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28235" y="4516755"/>
            <a:ext cx="3790950" cy="3928110"/>
            <a:chOff x="0" y="0"/>
            <a:chExt cx="5054600" cy="5237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4600" cy="5237480"/>
            </a:xfrm>
            <a:custGeom>
              <a:avLst/>
              <a:gdLst/>
              <a:ahLst/>
              <a:cxnLst/>
              <a:rect r="r" b="b" t="t" l="l"/>
              <a:pathLst>
                <a:path h="523748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053711"/>
                  </a:lnTo>
                  <a:cubicBezTo>
                    <a:pt x="5054600" y="5155184"/>
                    <a:pt x="4972304" y="5237480"/>
                    <a:pt x="4870831" y="5237480"/>
                  </a:cubicBezTo>
                  <a:lnTo>
                    <a:pt x="183769" y="5237480"/>
                  </a:lnTo>
                  <a:cubicBezTo>
                    <a:pt x="82296" y="5237480"/>
                    <a:pt x="0" y="5155184"/>
                    <a:pt x="0" y="505371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12080" y="4800600"/>
            <a:ext cx="3223260" cy="3429000"/>
            <a:chOff x="0" y="0"/>
            <a:chExt cx="4297680" cy="457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9768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493" t="0" r="-8649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4297680" cy="464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Mainnet deployment, 20+ mainnet users, external security review, launch post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759059" y="3318129"/>
            <a:ext cx="358902" cy="358902"/>
            <a:chOff x="0" y="0"/>
            <a:chExt cx="478536" cy="478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8B5CF6"/>
            </a:solidFill>
            <a:ln w="57150" cap="sq">
              <a:solidFill>
                <a:srgbClr val="0B0F1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052560" y="3909060"/>
            <a:ext cx="3771900" cy="548640"/>
            <a:chOff x="0" y="0"/>
            <a:chExt cx="50292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029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8B5C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Level 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43035" y="4516755"/>
            <a:ext cx="3790950" cy="3928110"/>
            <a:chOff x="0" y="0"/>
            <a:chExt cx="5054600" cy="5237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54600" cy="5237480"/>
            </a:xfrm>
            <a:custGeom>
              <a:avLst/>
              <a:gdLst/>
              <a:ahLst/>
              <a:cxnLst/>
              <a:rect r="r" b="b" t="t" l="l"/>
              <a:pathLst>
                <a:path h="523748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053711"/>
                  </a:lnTo>
                  <a:cubicBezTo>
                    <a:pt x="5054600" y="5155184"/>
                    <a:pt x="4972304" y="5237480"/>
                    <a:pt x="4870831" y="5237480"/>
                  </a:cubicBezTo>
                  <a:lnTo>
                    <a:pt x="183769" y="5237480"/>
                  </a:lnTo>
                  <a:cubicBezTo>
                    <a:pt x="82296" y="5237480"/>
                    <a:pt x="0" y="5155184"/>
                    <a:pt x="0" y="505371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80" y="4800600"/>
            <a:ext cx="3223260" cy="3429000"/>
            <a:chOff x="0" y="0"/>
            <a:chExt cx="4297680" cy="457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9768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493" t="0" r="-8649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97680" cy="464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50+ mainnet users, monthly growth reports, community contributions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73859" y="3318129"/>
            <a:ext cx="358902" cy="358902"/>
            <a:chOff x="0" y="0"/>
            <a:chExt cx="478536" cy="4785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22D3EE"/>
            </a:solidFill>
            <a:ln w="57150" cap="sq">
              <a:solidFill>
                <a:srgbClr val="0B0F1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167360" y="3909060"/>
            <a:ext cx="3771900" cy="548640"/>
            <a:chOff x="0" y="0"/>
            <a:chExt cx="5029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2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029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2D3E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Beyond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57835" y="4516755"/>
            <a:ext cx="3790950" cy="3928110"/>
            <a:chOff x="0" y="0"/>
            <a:chExt cx="5054600" cy="5237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54600" cy="5237480"/>
            </a:xfrm>
            <a:custGeom>
              <a:avLst/>
              <a:gdLst/>
              <a:ahLst/>
              <a:cxnLst/>
              <a:rect r="r" b="b" t="t" l="l"/>
              <a:pathLst>
                <a:path h="5237480" w="50546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4870831" y="0"/>
                  </a:lnTo>
                  <a:cubicBezTo>
                    <a:pt x="4972304" y="0"/>
                    <a:pt x="5054600" y="82296"/>
                    <a:pt x="5054600" y="183769"/>
                  </a:cubicBezTo>
                  <a:lnTo>
                    <a:pt x="5054600" y="5053711"/>
                  </a:lnTo>
                  <a:cubicBezTo>
                    <a:pt x="5054600" y="5155184"/>
                    <a:pt x="4972304" y="5237480"/>
                    <a:pt x="4870831" y="5237480"/>
                  </a:cubicBezTo>
                  <a:lnTo>
                    <a:pt x="183769" y="5237480"/>
                  </a:lnTo>
                  <a:cubicBezTo>
                    <a:pt x="82296" y="5237480"/>
                    <a:pt x="0" y="5155184"/>
                    <a:pt x="0" y="5053711"/>
                  </a:cubicBezTo>
                  <a:close/>
                </a:path>
              </a:pathLst>
            </a:custGeom>
            <a:solidFill>
              <a:srgbClr val="141B2E"/>
            </a:solidFill>
            <a:ln w="19050" cap="sq">
              <a:solidFill>
                <a:srgbClr val="2A335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441680" y="4800600"/>
            <a:ext cx="3223260" cy="3429000"/>
            <a:chOff x="0" y="0"/>
            <a:chExt cx="4297680" cy="457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9768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493" t="0" r="-8649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4297680" cy="464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Mobile app, notifications, loans against chit shares, additional payment assets — top-requested features from the feedback form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641623" y="9601200"/>
            <a:ext cx="1097280" cy="411480"/>
            <a:chOff x="0" y="0"/>
            <a:chExt cx="146304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63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9 / 10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601200"/>
            <a:ext cx="2743200" cy="411480"/>
            <a:chOff x="0" y="0"/>
            <a:chExt cx="36576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8"/>
                  </a:solidFill>
                  <a:latin typeface="Arial"/>
                  <a:ea typeface="Arial"/>
                  <a:cs typeface="Arial"/>
                  <a:sym typeface="Arial"/>
                </a:rPr>
                <a:t>ChainChit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90320" y="1097280"/>
            <a:ext cx="96012" cy="96012"/>
            <a:chOff x="0" y="0"/>
            <a:chExt cx="128016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1097280"/>
            <a:ext cx="96012" cy="96012"/>
            <a:chOff x="0" y="0"/>
            <a:chExt cx="128016" cy="1280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7600" y="1097280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90320" y="1645920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38960" y="1645920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0" y="1645920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1234440"/>
            <a:ext cx="10972800" cy="1234440"/>
            <a:chOff x="0" y="0"/>
            <a:chExt cx="1463040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6304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Try it now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294894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294894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3140" y="2921508"/>
            <a:ext cx="3291840" cy="685800"/>
            <a:chOff x="0" y="0"/>
            <a:chExt cx="43891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389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23560" y="2921508"/>
            <a:ext cx="10972800" cy="685800"/>
            <a:chOff x="0" y="0"/>
            <a:chExt cx="14630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D3EE"/>
                  </a:solidFill>
                  <a:latin typeface="Arial"/>
                  <a:ea typeface="Arial"/>
                  <a:cs typeface="Arial"/>
                  <a:sym typeface="Arial"/>
                </a:rPr>
                <a:t>chain-chit.vercel.app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4114800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411480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63140" y="4087368"/>
            <a:ext cx="3291840" cy="685800"/>
            <a:chOff x="0" y="0"/>
            <a:chExt cx="438912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389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video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623560" y="4087368"/>
            <a:ext cx="10972800" cy="685800"/>
            <a:chOff x="0" y="0"/>
            <a:chExt cx="14630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D3EE"/>
                  </a:solidFill>
                  <a:latin typeface="Arial"/>
                  <a:ea typeface="Arial"/>
                  <a:cs typeface="Arial"/>
                  <a:sym typeface="Arial"/>
                </a:rPr>
                <a:t>youtube.com/watch?v=PG6lmdV_pBI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440" y="5280660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4440" y="528066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263140" y="5253228"/>
            <a:ext cx="3291840" cy="685800"/>
            <a:chOff x="0" y="0"/>
            <a:chExt cx="438912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389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623560" y="5253228"/>
            <a:ext cx="10972800" cy="685800"/>
            <a:chOff x="0" y="0"/>
            <a:chExt cx="14630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D3EE"/>
                  </a:solidFill>
                  <a:latin typeface="Arial"/>
                  <a:ea typeface="Arial"/>
                  <a:cs typeface="Arial"/>
                  <a:sym typeface="Arial"/>
                </a:rPr>
                <a:t>github.com/sharifmdathar/ChainChit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4440" y="644652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2D3E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4440" y="644652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63140" y="6419088"/>
            <a:ext cx="3291840" cy="685800"/>
            <a:chOff x="0" y="0"/>
            <a:chExt cx="438912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389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Explorer proof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623560" y="6419088"/>
            <a:ext cx="10972800" cy="685800"/>
            <a:chOff x="0" y="0"/>
            <a:chExt cx="14630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D3EE"/>
                  </a:solidFill>
                  <a:latin typeface="Arial"/>
                  <a:ea typeface="Arial"/>
                  <a:cs typeface="Arial"/>
                  <a:sym typeface="Arial"/>
                </a:rPr>
                <a:t>Stellar Expert contract pages linked in README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11880">
            <a:off x="1224896" y="8293418"/>
            <a:ext cx="5505479" cy="0"/>
          </a:xfrm>
          <a:prstGeom prst="line">
            <a:avLst/>
          </a:prstGeom>
          <a:ln cap="rnd" w="9525">
            <a:solidFill>
              <a:srgbClr val="2A33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1234440" y="8572500"/>
            <a:ext cx="10972800" cy="685800"/>
            <a:chOff x="0" y="0"/>
            <a:chExt cx="1463040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4630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9AA5B8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Trust the code, not the foreman.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DAHT62QEffQ</dc:identifier>
  <dcterms:modified xsi:type="dcterms:W3CDTF">2011-08-01T06:04:30Z</dcterms:modified>
  <cp:revision>1</cp:revision>
  <dc:title>ChainChit Pitch Deck</dc:title>
</cp:coreProperties>
</file>