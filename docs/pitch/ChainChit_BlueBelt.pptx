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1F5F9"/>
                </a:solidFill>
                <a:latin typeface="Calibri"/>
              </a:rPr>
              <a:t>ChainChit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D3EE"/>
                </a:solidFill>
                <a:latin typeface="Calibri"/>
              </a:rPr>
              <a:t>Rotating savings committees, rebuilt on Stellar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Soroban smart contracts · commit-reveal bidding · on-chain reputation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Blue Belt Submission — Level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$50B+ runs on trust. Trust fails.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Chit funds move serious money informally</a:t>
            </a:r>
            <a:r>
              <a:rPr sz="1500">
                <a:solidFill>
                  <a:srgbClr val="94A3B8"/>
                </a:solidFill>
              </a:rPr>
              <a:t>  —  India's chit-fund market is estimated at ₹4-5 lakh crore (~$50B+), much of it run on paper ledgers and WhatsApp groups.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Organizer fraud is endemic</a:t>
            </a:r>
            <a:r>
              <a:rPr sz="1500">
                <a:solidFill>
                  <a:srgbClr val="94A3B8"/>
                </a:solidFill>
              </a:rPr>
              <a:t>  —  Foremen have vanished with pooled savings; regulators registered thousands of chit-fund fraud cases in the last decade.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Zero transparency between members</a:t>
            </a:r>
            <a:r>
              <a:rPr sz="1500">
                <a:solidFill>
                  <a:srgbClr val="94A3B8"/>
                </a:solidFill>
              </a:rPr>
              <a:t>  —  Members can't verify who paid, who bid what, or whether the pot was distributed fairly.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Enforcement is social, not contractual</a:t>
            </a:r>
            <a:r>
              <a:rPr sz="1500">
                <a:solidFill>
                  <a:srgbClr val="94A3B8"/>
                </a:solidFill>
              </a:rPr>
              <a:t>  —  A defaulter's only penalty is embarrassment; recovery means confrontation or courts.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Global south parallel</a:t>
            </a:r>
            <a:r>
              <a:rPr sz="1500">
                <a:solidFill>
                  <a:srgbClr val="94A3B8"/>
                </a:solidFill>
              </a:rPr>
              <a:t>  —  ROSCAs/committee/tandas operate identically across Africa, Latin America and Asia — same trust problem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The committee as a smart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Funds never touch a human custodian</a:t>
            </a:r>
            <a:r>
              <a:rPr sz="1500">
                <a:solidFill>
                  <a:srgbClr val="94A3B8"/>
                </a:solidFill>
              </a:rPr>
              <a:t>  —  Contributions sit in a Soroban contract; payouts execute deterministically by lowest-unique-bid rules.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Sealed bidding</a:t>
            </a:r>
            <a:r>
              <a:rPr sz="1500">
                <a:solidFill>
                  <a:srgbClr val="94A3B8"/>
                </a:solidFill>
              </a:rPr>
              <a:t>  —  SHA-256 commit-reveal hides bids until reveal phase — no sniping, no organizer peeking.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Reputation is earned on-chain</a:t>
            </a:r>
            <a:r>
              <a:rPr sz="1500">
                <a:solidFill>
                  <a:srgbClr val="94A3B8"/>
                </a:solidFill>
              </a:rPr>
              <a:t>  —  Composite score (0–1000) from payment history, completed cycles and dispute outcomes follows the wallet.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Sybil resistance built-in</a:t>
            </a:r>
            <a:r>
              <a:rPr sz="1500">
                <a:solidFill>
                  <a:srgbClr val="94A3B8"/>
                </a:solidFill>
              </a:rPr>
              <a:t>  —  Identity vouches are weighted by the voucher's own reputation — fake accounts carry zero weight.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</a:rPr>
              <a:t>▪ </a:t>
            </a:r>
            <a:r>
              <a:rPr sz="1700" b="1">
                <a:solidFill>
                  <a:srgbClr val="F1F5F9"/>
                </a:solidFill>
              </a:rPr>
              <a:t>Disputes get due process</a:t>
            </a:r>
            <a:r>
              <a:rPr sz="1500">
                <a:solidFill>
                  <a:srgbClr val="94A3B8"/>
                </a:solidFill>
              </a:rPr>
              <a:t>  —  Any member can escalate to a 3-of-5 multi-sig arbitrator panel with on-chain resolution.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One committee lifecycle, four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606040" cy="237744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09728"/>
          <a:lstStyle/>
          <a:p>
            <a:pPr algn="ctr"/>
            <a:r>
              <a:rPr sz="1900" b="1">
                <a:solidFill>
                  <a:srgbClr val="818CF8"/>
                </a:solidFill>
              </a:rPr>
              <a:t>1 · Forming</a:t>
            </a:r>
          </a:p>
          <a:p>
            <a:r>
              <a:rPr sz="1350">
                <a:solidFill>
                  <a:srgbClr val="94A3B8"/>
                </a:solidFill>
              </a:rPr>
              <a:t>Organizer sets contribution, seats and cycles; members join with attestation checks.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2606040" cy="237744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09728"/>
          <a:lstStyle/>
          <a:p>
            <a:pPr algn="ctr"/>
            <a:r>
              <a:rPr sz="1900" b="1">
                <a:solidFill>
                  <a:srgbClr val="34D399"/>
                </a:solidFill>
              </a:rPr>
              <a:t>2 · Collecting</a:t>
            </a:r>
          </a:p>
          <a:p>
            <a:r>
              <a:rPr sz="1350">
                <a:solidFill>
                  <a:srgbClr val="94A3B8"/>
                </a:solidFill>
              </a:rPr>
              <a:t>Every member pays the cycle contribution in USDC straight into the contract.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2606040" cy="237744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09728"/>
          <a:lstStyle/>
          <a:p>
            <a:pPr algn="ctr"/>
            <a:r>
              <a:rPr sz="1900" b="1">
                <a:solidFill>
                  <a:srgbClr val="FBBF24"/>
                </a:solidFill>
              </a:rPr>
              <a:t>3 · Bidding</a:t>
            </a:r>
          </a:p>
          <a:p>
            <a:r>
              <a:rPr sz="1350">
                <a:solidFill>
                  <a:srgbClr val="94A3B8"/>
                </a:solidFill>
              </a:rPr>
              <a:t>Sealed commits, then reveals. Lowest unique bid wins the entire pool.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2011680"/>
            <a:ext cx="2606040" cy="237744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09728"/>
          <a:lstStyle/>
          <a:p>
            <a:pPr algn="ctr"/>
            <a:r>
              <a:rPr sz="1900" b="1">
                <a:solidFill>
                  <a:srgbClr val="22D3EE"/>
                </a:solidFill>
              </a:rPr>
              <a:t>4 · Payout</a:t>
            </a:r>
          </a:p>
          <a:p>
            <a:r>
              <a:rPr sz="1350">
                <a:solidFill>
                  <a:srgbClr val="94A3B8"/>
                </a:solidFill>
              </a:rPr>
              <a:t>Contract transfers the pool instantly and records reputation for all members.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Repeat cycles 2–4 until every member has had a turn at the pool — then the group completes.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Live product: chain-chit.vercel.app  ·  Walkthrough: youtube.com/watch?v=un31dgbHZ48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Huge informal market, regulatory tailwind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383280" cy="155448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3000" b="1">
                <a:solidFill>
                  <a:srgbClr val="818CF8"/>
                </a:solidFill>
              </a:rPr>
              <a:t>~$50B+</a:t>
            </a:r>
          </a:p>
          <a:p>
            <a:r>
              <a:rPr sz="1200">
                <a:solidFill>
                  <a:srgbClr val="94A3B8"/>
                </a:solidFill>
              </a:rPr>
              <a:t>Indian chit funds AUM estimate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920240"/>
            <a:ext cx="3383280" cy="155448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3000" b="1">
                <a:solidFill>
                  <a:srgbClr val="22D3EE"/>
                </a:solidFill>
              </a:rPr>
              <a:t>100M+</a:t>
            </a:r>
          </a:p>
          <a:p>
            <a:r>
              <a:rPr sz="1200">
                <a:solidFill>
                  <a:srgbClr val="94A3B8"/>
                </a:solidFill>
              </a:rPr>
              <a:t>Participants in ROSCAs worldwide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920240"/>
            <a:ext cx="3383280" cy="155448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3000" b="1">
                <a:solidFill>
                  <a:srgbClr val="34D399"/>
                </a:solidFill>
              </a:rPr>
              <a:t>$1.4T</a:t>
            </a:r>
          </a:p>
          <a:p>
            <a:r>
              <a:rPr sz="1200">
                <a:solidFill>
                  <a:srgbClr val="94A3B8"/>
                </a:solidFill>
              </a:rPr>
              <a:t>Global remittances / yr — stablecoin rail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Beachhead</a:t>
            </a:r>
            <a:r>
              <a:rPr sz="1400">
                <a:solidFill>
                  <a:srgbClr val="94A3B8"/>
                </a:solidFill>
              </a:rPr>
              <a:t>  —  Tech-comfortable Indian savers already using USDC; testnet communities and hackathon ecosystems.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Why now</a:t>
            </a:r>
            <a:r>
              <a:rPr sz="1400">
                <a:solidFill>
                  <a:srgbClr val="94A3B8"/>
                </a:solidFill>
              </a:rPr>
              <a:t>  —  Soroban mainnet mature, SEP-24 ramps connect bank accounts to stablecoins, stablecoin regulation clearing globally.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Expansion path</a:t>
            </a:r>
            <a:r>
              <a:rPr sz="1400">
                <a:solidFill>
                  <a:srgbClr val="94A3B8"/>
                </a:solidFill>
              </a:rPr>
              <a:t>  —  Committee finance for gig-worker communities, diaspora savings circles, DAO treasuries running internal committees.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Four contracts, one trust fabric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6949440" cy="841248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>
                <a:solidFill>
                  <a:srgbClr val="818CF8"/>
                </a:solidFill>
              </a:rPr>
              <a:t>Factory   </a:t>
            </a:r>
            <a:r>
              <a:rPr sz="1300">
                <a:solidFill>
                  <a:srgbClr val="94A3B8"/>
                </a:solidFill>
              </a:rPr>
              <a:t>Deploys ChitGroup instances, tracks user groups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2"/>
            <a:ext cx="6949440" cy="841248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>
                <a:solidFill>
                  <a:srgbClr val="22D3EE"/>
                </a:solidFill>
              </a:rPr>
              <a:t>ChitGroup   </a:t>
            </a:r>
            <a:r>
              <a:rPr sz="1300">
                <a:solidFill>
                  <a:srgbClr val="94A3B8"/>
                </a:solidFill>
              </a:rPr>
              <a:t>Lifecycle, contributions, commit-reveal bids, payouts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49624"/>
            <a:ext cx="6949440" cy="841248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>
                <a:solidFill>
                  <a:srgbClr val="34D399"/>
                </a:solidFill>
              </a:rPr>
              <a:t>Reputation   </a:t>
            </a:r>
            <a:r>
              <a:rPr sz="1300">
                <a:solidFill>
                  <a:srgbClr val="94A3B8"/>
                </a:solidFill>
              </a:rPr>
              <a:t>On-time ratio, composite score 0–1000, established flag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37176"/>
            <a:ext cx="6949440" cy="841248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>
                <a:solidFill>
                  <a:srgbClr val="FBBF24"/>
                </a:solidFill>
              </a:rPr>
              <a:t>Identity + Dispute   </a:t>
            </a:r>
            <a:r>
              <a:rPr sz="1300">
                <a:solidFill>
                  <a:srgbClr val="94A3B8"/>
                </a:solidFill>
              </a:rPr>
              <a:t>Weighted attestations · 3-of-5 arbitration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92024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</a:rPr>
              <a:t>▪ </a:t>
            </a:r>
            <a:r>
              <a:rPr sz="1400" b="1">
                <a:solidFill>
                  <a:srgbClr val="F1F5F9"/>
                </a:solidFill>
              </a:rPr>
              <a:t>Frontend</a:t>
            </a:r>
            <a:r>
              <a:rPr sz="1200">
                <a:solidFill>
                  <a:srgbClr val="94A3B8"/>
                </a:solidFill>
              </a:rPr>
              <a:t>  —  Next.js 14, TypeScript strict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</a:rPr>
              <a:t>▪ </a:t>
            </a:r>
            <a:r>
              <a:rPr sz="1400" b="1">
                <a:solidFill>
                  <a:srgbClr val="F1F5F9"/>
                </a:solidFill>
              </a:rPr>
              <a:t>Wallets</a:t>
            </a:r>
            <a:r>
              <a:rPr sz="1200">
                <a:solidFill>
                  <a:srgbClr val="94A3B8"/>
                </a:solidFill>
              </a:rPr>
              <a:t>  —  Freighter, xBull, Lobstr via wallet-kit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</a:rPr>
              <a:t>▪ </a:t>
            </a:r>
            <a:r>
              <a:rPr sz="1400" b="1">
                <a:solidFill>
                  <a:srgbClr val="F1F5F9"/>
                </a:solidFill>
              </a:rPr>
              <a:t>Rails</a:t>
            </a:r>
            <a:r>
              <a:rPr sz="1200">
                <a:solidFill>
                  <a:srgbClr val="94A3B8"/>
                </a:solidFill>
              </a:rPr>
              <a:t>  —  Stellar Soroban RPC + Horizon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</a:rPr>
              <a:t>▪ </a:t>
            </a:r>
            <a:r>
              <a:rPr sz="1400" b="1">
                <a:solidFill>
                  <a:srgbClr val="F1F5F9"/>
                </a:solidFill>
              </a:rPr>
              <a:t>Ramp</a:t>
            </a:r>
            <a:r>
              <a:rPr sz="1200">
                <a:solidFill>
                  <a:srgbClr val="94A3B8"/>
                </a:solidFill>
              </a:rPr>
              <a:t>  —  SEP-24 anchor: INR ↔ USDC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</a:rPr>
              <a:t>▪ </a:t>
            </a:r>
            <a:r>
              <a:rPr sz="1400" b="1">
                <a:solidFill>
                  <a:srgbClr val="F1F5F9"/>
                </a:solidFill>
              </a:rPr>
              <a:t>Quality</a:t>
            </a:r>
            <a:r>
              <a:rPr sz="1200">
                <a:solidFill>
                  <a:srgbClr val="94A3B8"/>
                </a:solidFill>
              </a:rPr>
              <a:t>  —  CI pipeline, security-audit checklist, Rust unit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Live on Stellar testnet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606040" cy="155448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3000" b="1">
                <a:solidFill>
                  <a:srgbClr val="F1F5F9"/>
                </a:solidFill>
              </a:rPr>
              <a:t>77+</a:t>
            </a:r>
          </a:p>
          <a:p>
            <a:r>
              <a:rPr sz="1200">
                <a:solidFill>
                  <a:srgbClr val="94A3B8"/>
                </a:solidFill>
              </a:rPr>
              <a:t>Meaningful commits, public repo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920240"/>
            <a:ext cx="2606040" cy="155448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3000" b="1">
                <a:solidFill>
                  <a:srgbClr val="818CF8"/>
                </a:solidFill>
              </a:rPr>
              <a:t>13→50+</a:t>
            </a:r>
          </a:p>
          <a:p>
            <a:r>
              <a:rPr sz="1200">
                <a:solidFill>
                  <a:srgbClr val="94A3B8"/>
                </a:solidFill>
              </a:rPr>
              <a:t>Testnet wallets onboarded this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2606040" cy="155448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3000" b="1">
                <a:solidFill>
                  <a:srgbClr val="22D3EE"/>
                </a:solidFill>
              </a:rPr>
              <a:t>2+</a:t>
            </a:r>
          </a:p>
          <a:p>
            <a:r>
              <a:rPr sz="1200">
                <a:solidFill>
                  <a:srgbClr val="94A3B8"/>
                </a:solidFill>
              </a:rPr>
              <a:t>Committees running real cycles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40" y="1920240"/>
            <a:ext cx="2606040" cy="1554480"/>
          </a:xfrm>
          <a:prstGeom prst="rect">
            <a:avLst/>
          </a:prstGeom>
          <a:solidFill>
            <a:srgbClr val="1E1B4B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3000" b="1">
                <a:solidFill>
                  <a:srgbClr val="34D399"/>
                </a:solidFill>
              </a:rPr>
              <a:t>100%</a:t>
            </a:r>
          </a:p>
          <a:p>
            <a:r>
              <a:rPr sz="1200">
                <a:solidFill>
                  <a:srgbClr val="94A3B8"/>
                </a:solidFill>
              </a:rPr>
              <a:t>Uptime since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Deployed</a:t>
            </a:r>
            <a:r>
              <a:rPr sz="1400">
                <a:solidFill>
                  <a:srgbClr val="94A3B8"/>
                </a:solidFill>
              </a:rPr>
              <a:t>  —  Factory, Reputation, Identity, Dispute live on testnet; two active committees with funded members.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Feedback loop running</a:t>
            </a:r>
            <a:r>
              <a:rPr sz="1400">
                <a:solidFill>
                  <a:srgbClr val="94A3B8"/>
                </a:solidFill>
              </a:rPr>
              <a:t>  —  Google Form collects structured feedback per user; workbook analysis drives the improvement backlog.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Shipped this level</a:t>
            </a:r>
            <a:r>
              <a:rPr sz="1400">
                <a:solidFill>
                  <a:srgbClr val="94A3B8"/>
                </a:solidFill>
              </a:rPr>
              <a:t>  —  Onboarding checklist, committee timeline visualization, live bid-insight panel — each mapped to a UX finding with commit evidence.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Verifiable</a:t>
            </a:r>
            <a:r>
              <a:rPr sz="1400">
                <a:solidFill>
                  <a:srgbClr val="94A3B8"/>
                </a:solidFill>
              </a:rPr>
              <a:t>  —  Every claim links to Stellar Expert explorer pages, tx hashes and commit history in the README.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Committee-led loops, not paid 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Organizer-first onboarding</a:t>
            </a:r>
            <a:r>
              <a:rPr sz="1400">
                <a:solidFill>
                  <a:srgbClr val="94A3B8"/>
                </a:solidFill>
              </a:rPr>
              <a:t>  —  In real chit funds one foreman brings 10–20 members. Provision tooling lets an organizer stand up a full committee in minutes — growth compounds per committee, not per user.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Reputation as lock-in</a:t>
            </a:r>
            <a:r>
              <a:rPr sz="1400">
                <a:solidFill>
                  <a:srgbClr val="94A3B8"/>
                </a:solidFill>
              </a:rPr>
              <a:t>  —  Scores accrue to wallets across groups; leaving ChainChit means abandoning your on-chain credit history.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Community seeding</a:t>
            </a:r>
            <a:r>
              <a:rPr sz="1400">
                <a:solidFill>
                  <a:srgbClr val="94A3B8"/>
                </a:solidFill>
              </a:rPr>
              <a:t>  —  Hackathon cohorts, Stellar community channels, university fintech clubs — committees formed where savers already gather.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Content flywheel</a:t>
            </a:r>
            <a:r>
              <a:rPr sz="1400">
                <a:solidFill>
                  <a:srgbClr val="94A3B8"/>
                </a:solidFill>
              </a:rPr>
              <a:t>  —  Demo walkthroughs, explainer threads and transparent explorer links make every committee a shareable proof.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</a:rPr>
              <a:t>▪ </a:t>
            </a:r>
            <a:r>
              <a:rPr sz="1600" b="1">
                <a:solidFill>
                  <a:srgbClr val="F1F5F9"/>
                </a:solidFill>
              </a:rPr>
              <a:t>Retention mechanics</a:t>
            </a:r>
            <a:r>
              <a:rPr sz="1400">
                <a:solidFill>
                  <a:srgbClr val="94A3B8"/>
                </a:solidFill>
              </a:rPr>
              <a:t>  —  Multi-cycle groups create recurring engagement; reputation gates reward consistent participation with cheaper access to pools.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From testnet proof to mainnet 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28016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21408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Level 5 ·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Calibri"/>
              </a:rPr>
              <a:t>50+ testnet wallets, feedback-driven iteration, pitch &amp;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2395728"/>
            <a:ext cx="25400" cy="6583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3172968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971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18CF8"/>
                </a:solidFill>
                <a:latin typeface="Calibri"/>
              </a:rPr>
              <a:t>Level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97180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Calibri"/>
              </a:rPr>
              <a:t>Mainnet deployment, 20+ mainnet users, external security review, launch post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3447288"/>
            <a:ext cx="25400" cy="6583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224528"/>
            <a:ext cx="256032" cy="25603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023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Level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Calibri"/>
              </a:rPr>
              <a:t>50+ mainnet users, monthly growth reports, community contributions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4498848"/>
            <a:ext cx="25400" cy="6583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5276088"/>
            <a:ext cx="256032" cy="25603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074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Calibri"/>
              </a:rPr>
              <a:t>Beyond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07492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94A3B8"/>
                </a:solidFill>
                <a:latin typeface="Calibri"/>
              </a:rPr>
              <a:t>Mobile app, notifications, loans against chit shares, additional payment assets — top-requested features from the feedback 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1F5F9"/>
                </a:solidFill>
                <a:latin typeface="Calibri"/>
              </a:rPr>
              <a:t>Try it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22D3EE"/>
                </a:solidFill>
                <a:latin typeface="Calibri"/>
              </a:rPr>
              <a:t>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2651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Calibri"/>
              </a:rPr>
              <a:t>chain-chit.vercel.app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22D3EE"/>
                </a:solidFill>
                <a:latin typeface="Calibri"/>
              </a:rPr>
              <a:t>Demo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Calibri"/>
              </a:rPr>
              <a:t>youtube.com/watch?v=un31dgbHZ48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22D3EE"/>
                </a:solidFill>
                <a:latin typeface="Calibri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Calibri"/>
              </a:rPr>
              <a:t>github.com/sharifmdathar/ChainChit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9834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22D3EE"/>
                </a:solidFill>
                <a:latin typeface="Calibri"/>
              </a:rPr>
              <a:t>Explorer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9834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Calibri"/>
              </a:rPr>
              <a:t>Stellar Expert contract pages linked in 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Trust the code, not the foreman.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